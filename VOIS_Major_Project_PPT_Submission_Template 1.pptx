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p:scale>
          <a:sx n="80" d="100"/>
          <a:sy n="80" d="100"/>
        </p:scale>
        <p:origin x="-258" y="-78"/>
      </p:cViewPr>
      <p:guideLst>
        <p:guide orient="horz" pos="1968"/>
        <p:guide orient="horz" pos="3912"/>
        <p:guide orient="horz" pos="1656"/>
        <p:guide pos="408"/>
        <p:guide pos="7272"/>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xmlns=""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xmlns=""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xmlns=""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xmlns=""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xmlns=""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xmlns=""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xmlns=""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xmlns="">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xmlns=""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xmlns=""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xmlns=""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xmlns=""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xmlns=""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xmlns=""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xmlns="">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xmlns=""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xmlns=""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xmlns=""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xmlns=""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xmlns=""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xmlns="">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xmlns=""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xmlns=""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xmlns=""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xmlns=""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xmlns=""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xmlns=""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xmlns=""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xmlns=""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xmlns=""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xmlns=""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xmlns=""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xmlns=""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xmlns=""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xmlns=""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xmlns=""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xmlns=""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xmlns=""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xmlns=""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xmlns=""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xmlns="">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xmlns=""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xmlns=""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xmlns=""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xmlns=""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xmlns=""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xmlns=""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xmlns=""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7" Type="http://schemas.openxmlformats.org/officeDocument/2006/relationships/image" Target="../media/image10.jp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9.jpg"/><Relationship Id="rId5" Type="http://schemas.openxmlformats.org/officeDocument/2006/relationships/image" Target="../media/image8.jpg"/><Relationship Id="rId4" Type="http://schemas.openxmlformats.org/officeDocument/2006/relationships/image" Target="../media/image7.jpg"/></Relationships>
</file>

<file path=ppt/slides/_rels/slide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4.jpg"/><Relationship Id="rId5" Type="http://schemas.openxmlformats.org/officeDocument/2006/relationships/image" Target="../media/image13.jpg"/><Relationship Id="rId4" Type="http://schemas.openxmlformats.org/officeDocument/2006/relationships/image" Target="../media/image12.jpg"/></Relationships>
</file>

<file path=ppt/slides/_rels/slide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8.jpg"/><Relationship Id="rId5" Type="http://schemas.openxmlformats.org/officeDocument/2006/relationships/image" Target="../media/image17.jpg"/><Relationship Id="rId4" Type="http://schemas.openxmlformats.org/officeDocument/2006/relationships/image" Target="../media/image16.jpg"/></Relationships>
</file>

<file path=ppt/slides/_rels/slide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22.jpg"/><Relationship Id="rId5" Type="http://schemas.openxmlformats.org/officeDocument/2006/relationships/image" Target="../media/image21.jpg"/><Relationship Id="rId4" Type="http://schemas.openxmlformats.org/officeDocument/2006/relationships/image" Target="../media/image20.jpg"/></Relationships>
</file>

<file path=ppt/slides/_rels/slide10.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26.jpg"/><Relationship Id="rId5" Type="http://schemas.openxmlformats.org/officeDocument/2006/relationships/image" Target="../media/image25.jpg"/><Relationship Id="rId4" Type="http://schemas.openxmlformats.org/officeDocument/2006/relationships/image" Target="../media/image24.jp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Khushi07708/Seasonal-agriculture-performance-analysi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7201737A-B873-4D1D-8A41-5ABF5184BC8F}"/>
              </a:ext>
            </a:extLst>
          </p:cNvPr>
          <p:cNvSpPr>
            <a:spLocks noGrp="1"/>
          </p:cNvSpPr>
          <p:nvPr>
            <p:ph type="body" sz="quarter" idx="11"/>
          </p:nvPr>
        </p:nvSpPr>
        <p:spPr>
          <a:xfrm>
            <a:off x="406235" y="3488912"/>
            <a:ext cx="10067801" cy="861497"/>
          </a:xfrm>
        </p:spPr>
        <p:txBody>
          <a:bodyPr vert="horz" lIns="91440" tIns="45720" rIns="91440" bIns="45720" rtlCol="0" anchor="t">
            <a:normAutofit/>
          </a:bodyPr>
          <a:lstStyle/>
          <a:p>
            <a:r>
              <a:rPr lang="en-US" b="0" dirty="0">
                <a:solidFill>
                  <a:schemeClr val="tx1"/>
                </a:solidFill>
              </a:rPr>
              <a:t> </a:t>
            </a:r>
            <a:r>
              <a:rPr lang="en-US" b="0" dirty="0" smtClean="0">
                <a:solidFill>
                  <a:schemeClr val="tx1"/>
                </a:solidFill>
              </a:rPr>
              <a:t>  </a:t>
            </a:r>
            <a:r>
              <a:rPr lang="en-US" b="0" dirty="0" err="1" smtClean="0">
                <a:solidFill>
                  <a:schemeClr val="tx1"/>
                </a:solidFill>
              </a:rPr>
              <a:t>Khushi</a:t>
            </a:r>
            <a:r>
              <a:rPr lang="en-US" b="0" dirty="0" smtClean="0">
                <a:solidFill>
                  <a:schemeClr val="tx1"/>
                </a:solidFill>
              </a:rPr>
              <a:t> </a:t>
            </a:r>
            <a:r>
              <a:rPr lang="en-US" b="0" dirty="0" err="1" smtClean="0">
                <a:solidFill>
                  <a:schemeClr val="tx1"/>
                </a:solidFill>
              </a:rPr>
              <a:t>Kumari</a:t>
            </a:r>
            <a:r>
              <a:rPr lang="en-US" b="0" dirty="0" smtClean="0">
                <a:solidFill>
                  <a:schemeClr val="tx1"/>
                </a:solidFill>
              </a:rPr>
              <a:t> </a:t>
            </a:r>
            <a:endParaRPr lang="en-IN" b="0" dirty="0">
              <a:solidFill>
                <a:schemeClr val="tx1"/>
              </a:solidFill>
            </a:endParaRPr>
          </a:p>
          <a:p>
            <a:r>
              <a:rPr lang="en-US" b="0" dirty="0">
                <a:solidFill>
                  <a:schemeClr val="tx1"/>
                </a:solidFill>
              </a:rPr>
              <a:t> </a:t>
            </a:r>
            <a:r>
              <a:rPr lang="en-US" b="0" dirty="0" smtClean="0">
                <a:solidFill>
                  <a:schemeClr val="tx1"/>
                </a:solidFill>
              </a:rPr>
              <a:t>  </a:t>
            </a:r>
            <a:r>
              <a:rPr lang="en-US" b="0" dirty="0" err="1" smtClean="0">
                <a:solidFill>
                  <a:schemeClr val="tx1"/>
                </a:solidFill>
              </a:rPr>
              <a:t>Bharati</a:t>
            </a:r>
            <a:r>
              <a:rPr lang="en-US" b="0" dirty="0" smtClean="0">
                <a:solidFill>
                  <a:schemeClr val="tx1"/>
                </a:solidFill>
              </a:rPr>
              <a:t> </a:t>
            </a:r>
            <a:r>
              <a:rPr lang="en-US" b="0" dirty="0" err="1" smtClean="0">
                <a:solidFill>
                  <a:schemeClr val="tx1"/>
                </a:solidFill>
              </a:rPr>
              <a:t>Vidyapeeth</a:t>
            </a:r>
            <a:r>
              <a:rPr lang="en-US" b="0" dirty="0" smtClean="0">
                <a:solidFill>
                  <a:schemeClr val="tx1"/>
                </a:solidFill>
              </a:rPr>
              <a:t> Deemed to be University College of Engineering</a:t>
            </a:r>
            <a:endParaRPr lang="en-IN" b="0" dirty="0">
              <a:solidFill>
                <a:schemeClr val="tx1"/>
              </a:solidFill>
            </a:endParaRPr>
          </a:p>
        </p:txBody>
      </p:sp>
      <p:sp>
        <p:nvSpPr>
          <p:cNvPr id="4" name="Title 3">
            <a:extLst>
              <a:ext uri="{FF2B5EF4-FFF2-40B4-BE49-F238E27FC236}">
                <a16:creationId xmlns:a16="http://schemas.microsoft.com/office/drawing/2014/main" xmlns="" id="{92056599-CDAA-4367-BEF8-31D6E32518C8}"/>
              </a:ext>
            </a:extLst>
          </p:cNvPr>
          <p:cNvSpPr>
            <a:spLocks noGrp="1"/>
          </p:cNvSpPr>
          <p:nvPr>
            <p:ph type="title"/>
          </p:nvPr>
        </p:nvSpPr>
        <p:spPr>
          <a:xfrm>
            <a:off x="678364" y="2844750"/>
            <a:ext cx="9665044" cy="743448"/>
          </a:xfrm>
        </p:spPr>
        <p:txBody>
          <a:bodyPr>
            <a:normAutofit/>
          </a:bodyPr>
          <a:lstStyle/>
          <a:p>
            <a:r>
              <a:rPr lang="en-GB" sz="2400" b="1" dirty="0"/>
              <a:t>Project Title </a:t>
            </a:r>
            <a:r>
              <a:rPr lang="en-GB" sz="2400" b="1" dirty="0" smtClean="0"/>
              <a:t>–</a:t>
            </a:r>
            <a:r>
              <a:rPr lang="en-GB" sz="2400" b="1" u="sng" dirty="0" smtClean="0"/>
              <a:t>SEASONAL AGRICULTURE PERFORMANCE ANALYSIS</a:t>
            </a:r>
            <a:endParaRPr lang="en-IN" sz="2400" b="1" u="sng" dirty="0"/>
          </a:p>
        </p:txBody>
      </p:sp>
      <p:sp>
        <p:nvSpPr>
          <p:cNvPr id="15" name="Text Placeholder 1">
            <a:extLst>
              <a:ext uri="{FF2B5EF4-FFF2-40B4-BE49-F238E27FC236}">
                <a16:creationId xmlns:a16="http://schemas.microsoft.com/office/drawing/2014/main" xmlns=""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xmlns=""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xmlns="" id="{17F04107-8754-E47D-3375-529E689711FA}"/>
              </a:ext>
            </a:extLst>
          </p:cNvPr>
          <p:cNvSpPr txBox="1"/>
          <p:nvPr/>
        </p:nvSpPr>
        <p:spPr>
          <a:xfrm>
            <a:off x="957406" y="4576469"/>
            <a:ext cx="5823404" cy="369332"/>
          </a:xfrm>
          <a:prstGeom prst="rect">
            <a:avLst/>
          </a:prstGeom>
          <a:noFill/>
        </p:spPr>
        <p:txBody>
          <a:bodyPr wrap="square" rtlCol="0">
            <a:spAutoFit/>
          </a:bodyPr>
          <a:lstStyle/>
          <a:p>
            <a:r>
              <a:rPr lang="en-US" b="1" dirty="0"/>
              <a:t>AICTE STU ID : </a:t>
            </a:r>
            <a:r>
              <a:rPr lang="en-US" b="1" dirty="0"/>
              <a:t>STU6a6503d589ac01785005013</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xmlns=""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xmlns=""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xmlns=""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EBF2FBC7-3552-4F01-BB27-8BEEE74F7277}"/>
              </a:ext>
            </a:extLst>
          </p:cNvPr>
          <p:cNvSpPr>
            <a:spLocks noGrp="1"/>
          </p:cNvSpPr>
          <p:nvPr>
            <p:ph type="title"/>
          </p:nvPr>
        </p:nvSpPr>
        <p:spPr>
          <a:xfrm>
            <a:off x="1491672" y="460828"/>
            <a:ext cx="7011061" cy="394195"/>
          </a:xfrm>
        </p:spPr>
        <p:txBody>
          <a:bodyPr>
            <a:noAutofit/>
          </a:bodyPr>
          <a:lstStyle/>
          <a:p>
            <a:pPr algn="ctr"/>
            <a:r>
              <a:rPr lang="en-GB" sz="2000" u="sng" dirty="0"/>
              <a:t>Project </a:t>
            </a:r>
            <a:r>
              <a:rPr lang="en-GB" sz="2000" u="sng" dirty="0" smtClean="0"/>
              <a:t>Description</a:t>
            </a:r>
            <a:r>
              <a:rPr lang="en-GB" sz="1400" b="0" dirty="0"/>
              <a:t/>
            </a:r>
            <a:br>
              <a:rPr lang="en-GB" sz="1400" b="0" dirty="0"/>
            </a:br>
            <a:r>
              <a:rPr lang="en-GB" sz="1400" b="0" dirty="0"/>
              <a:t/>
            </a:r>
            <a:br>
              <a:rPr lang="en-GB" sz="1400" b="0" dirty="0"/>
            </a:br>
            <a:endParaRPr lang="en-IN" sz="1400" b="0" dirty="0"/>
          </a:p>
        </p:txBody>
      </p:sp>
      <p:pic>
        <p:nvPicPr>
          <p:cNvPr id="5" name="Picture 4">
            <a:extLst>
              <a:ext uri="{FF2B5EF4-FFF2-40B4-BE49-F238E27FC236}">
                <a16:creationId xmlns:a16="http://schemas.microsoft.com/office/drawing/2014/main" xmlns=""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xmlns=""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p:cNvSpPr txBox="1"/>
          <p:nvPr/>
        </p:nvSpPr>
        <p:spPr>
          <a:xfrm>
            <a:off x="711583" y="1098055"/>
            <a:ext cx="8206991" cy="5016758"/>
          </a:xfrm>
          <a:prstGeom prst="rect">
            <a:avLst/>
          </a:prstGeom>
          <a:noFill/>
        </p:spPr>
        <p:txBody>
          <a:bodyPr wrap="square" rtlCol="0">
            <a:spAutoFit/>
          </a:bodyPr>
          <a:lstStyle/>
          <a:p>
            <a:r>
              <a:rPr lang="en-US" sz="1600" dirty="0">
                <a:latin typeface="Arial" pitchFamily="34" charset="0"/>
                <a:cs typeface="Arial" pitchFamily="34" charset="0"/>
              </a:rPr>
              <a:t>This project analyzes agricultural data across </a:t>
            </a:r>
            <a:r>
              <a:rPr lang="en-US" sz="1600" dirty="0">
                <a:latin typeface="Segoe UI" pitchFamily="34" charset="0"/>
                <a:cs typeface="Segoe UI" pitchFamily="34" charset="0"/>
              </a:rPr>
              <a:t>different</a:t>
            </a:r>
            <a:r>
              <a:rPr lang="en-US" sz="1600" dirty="0">
                <a:latin typeface="Arial" pitchFamily="34" charset="0"/>
                <a:cs typeface="Arial" pitchFamily="34" charset="0"/>
              </a:rPr>
              <a:t> seasons, crops and geographical regions</a:t>
            </a:r>
            <a:r>
              <a:rPr lang="en-US" sz="1600" dirty="0" smtClean="0">
                <a:latin typeface="Arial" pitchFamily="34" charset="0"/>
                <a:cs typeface="Arial" pitchFamily="34" charset="0"/>
              </a:rPr>
              <a:t>.</a:t>
            </a:r>
          </a:p>
          <a:p>
            <a:endParaRPr lang="en-US" sz="1600" dirty="0">
              <a:latin typeface="Arial" pitchFamily="34" charset="0"/>
              <a:cs typeface="Arial" pitchFamily="34" charset="0"/>
            </a:endParaRPr>
          </a:p>
          <a:p>
            <a:r>
              <a:rPr lang="en-US" sz="1600" b="1" u="sng" dirty="0">
                <a:latin typeface="Arial" pitchFamily="34" charset="0"/>
                <a:cs typeface="Arial" pitchFamily="34" charset="0"/>
              </a:rPr>
              <a:t>Analysis Areas</a:t>
            </a:r>
          </a:p>
          <a:p>
            <a:pPr marL="285750" indent="-285750">
              <a:buFont typeface="Arial" pitchFamily="34" charset="0"/>
              <a:buChar char="•"/>
            </a:pPr>
            <a:r>
              <a:rPr lang="en-US" sz="1600" dirty="0">
                <a:latin typeface="Arial" pitchFamily="34" charset="0"/>
                <a:cs typeface="Arial" pitchFamily="34" charset="0"/>
              </a:rPr>
              <a:t>Seasonal performance analysis</a:t>
            </a:r>
          </a:p>
          <a:p>
            <a:pPr marL="285750" indent="-285750">
              <a:buFont typeface="Arial" pitchFamily="34" charset="0"/>
              <a:buChar char="•"/>
            </a:pPr>
            <a:r>
              <a:rPr lang="en-US" sz="1600" dirty="0">
                <a:latin typeface="Arial" pitchFamily="34" charset="0"/>
                <a:cs typeface="Arial" pitchFamily="34" charset="0"/>
              </a:rPr>
              <a:t>Environmental condition analysis</a:t>
            </a:r>
          </a:p>
          <a:p>
            <a:pPr marL="285750" indent="-285750">
              <a:buFont typeface="Arial" pitchFamily="34" charset="0"/>
              <a:buChar char="•"/>
            </a:pPr>
            <a:r>
              <a:rPr lang="en-US" sz="1600" dirty="0">
                <a:latin typeface="Arial" pitchFamily="34" charset="0"/>
                <a:cs typeface="Arial" pitchFamily="34" charset="0"/>
              </a:rPr>
              <a:t>Crop-wise and season-wise comparison</a:t>
            </a:r>
          </a:p>
          <a:p>
            <a:pPr marL="285750" indent="-285750">
              <a:buFont typeface="Arial" pitchFamily="34" charset="0"/>
              <a:buChar char="•"/>
            </a:pPr>
            <a:r>
              <a:rPr lang="en-US" sz="1600" dirty="0">
                <a:latin typeface="Arial" pitchFamily="34" charset="0"/>
                <a:cs typeface="Arial" pitchFamily="34" charset="0"/>
              </a:rPr>
              <a:t>Irrigation and resource usage</a:t>
            </a:r>
          </a:p>
          <a:p>
            <a:pPr marL="285750" indent="-285750">
              <a:buFont typeface="Arial" pitchFamily="34" charset="0"/>
              <a:buChar char="•"/>
            </a:pPr>
            <a:r>
              <a:rPr lang="en-US" sz="1600" dirty="0">
                <a:latin typeface="Arial" pitchFamily="34" charset="0"/>
                <a:cs typeface="Arial" pitchFamily="34" charset="0"/>
              </a:rPr>
              <a:t>Economic performance</a:t>
            </a:r>
          </a:p>
          <a:p>
            <a:pPr marL="285750" indent="-285750">
              <a:buFont typeface="Arial" pitchFamily="34" charset="0"/>
              <a:buChar char="•"/>
            </a:pPr>
            <a:r>
              <a:rPr lang="en-US" sz="1600" dirty="0">
                <a:latin typeface="Arial" pitchFamily="34" charset="0"/>
                <a:cs typeface="Arial" pitchFamily="34" charset="0"/>
              </a:rPr>
              <a:t>Disease &amp; pest risk</a:t>
            </a:r>
          </a:p>
          <a:p>
            <a:pPr marL="285750" indent="-285750">
              <a:buFont typeface="Arial" pitchFamily="34" charset="0"/>
              <a:buChar char="•"/>
            </a:pPr>
            <a:r>
              <a:rPr lang="en-US" sz="1600" dirty="0">
                <a:latin typeface="Arial" pitchFamily="34" charset="0"/>
                <a:cs typeface="Arial" pitchFamily="34" charset="0"/>
              </a:rPr>
              <a:t>State-wise performance</a:t>
            </a:r>
          </a:p>
          <a:p>
            <a:pPr marL="285750" indent="-285750">
              <a:buFont typeface="Arial" pitchFamily="34" charset="0"/>
              <a:buChar char="•"/>
            </a:pPr>
            <a:r>
              <a:rPr lang="en-US" sz="1600" dirty="0">
                <a:latin typeface="Arial" pitchFamily="34" charset="0"/>
                <a:cs typeface="Arial" pitchFamily="34" charset="0"/>
              </a:rPr>
              <a:t>Statistical analysis</a:t>
            </a:r>
          </a:p>
          <a:p>
            <a:pPr marL="285750" indent="-285750">
              <a:buFont typeface="Arial" pitchFamily="34" charset="0"/>
              <a:buChar char="•"/>
            </a:pPr>
            <a:r>
              <a:rPr lang="en-US" sz="1600" dirty="0">
                <a:latin typeface="Arial" pitchFamily="34" charset="0"/>
                <a:cs typeface="Arial" pitchFamily="34" charset="0"/>
              </a:rPr>
              <a:t>Outlier and unusual pattern </a:t>
            </a:r>
            <a:r>
              <a:rPr lang="en-US" sz="1600" dirty="0" smtClean="0">
                <a:latin typeface="Arial" pitchFamily="34" charset="0"/>
                <a:cs typeface="Arial" pitchFamily="34" charset="0"/>
              </a:rPr>
              <a:t>detection</a:t>
            </a:r>
          </a:p>
          <a:p>
            <a:pPr marL="285750" indent="-285750">
              <a:buFont typeface="Arial" pitchFamily="34" charset="0"/>
              <a:buChar char="•"/>
            </a:pPr>
            <a:endParaRPr lang="en-US" sz="1600" dirty="0">
              <a:latin typeface="Arial" pitchFamily="34" charset="0"/>
              <a:cs typeface="Arial" pitchFamily="34" charset="0"/>
            </a:endParaRPr>
          </a:p>
          <a:p>
            <a:r>
              <a:rPr lang="en-US" sz="1600" b="1" u="sng" dirty="0">
                <a:latin typeface="Arial" pitchFamily="34" charset="0"/>
                <a:cs typeface="Arial" pitchFamily="34" charset="0"/>
              </a:rPr>
              <a:t>Main Approach</a:t>
            </a:r>
          </a:p>
          <a:p>
            <a:r>
              <a:rPr lang="en-US" sz="1600" dirty="0">
                <a:latin typeface="Arial" pitchFamily="34" charset="0"/>
                <a:cs typeface="Arial" pitchFamily="34" charset="0"/>
              </a:rPr>
              <a:t>Season → Environment → Resources → Crop Performance → Economics → </a:t>
            </a:r>
            <a:r>
              <a:rPr lang="en-US" sz="1600" dirty="0" smtClean="0">
                <a:latin typeface="Arial" pitchFamily="34" charset="0"/>
                <a:cs typeface="Arial" pitchFamily="34" charset="0"/>
              </a:rPr>
              <a:t>Recommendations</a:t>
            </a:r>
          </a:p>
          <a:p>
            <a:endParaRPr lang="en-US" sz="1600" dirty="0" smtClean="0">
              <a:latin typeface="Arial" pitchFamily="34" charset="0"/>
              <a:cs typeface="Arial" pitchFamily="34" charset="0"/>
            </a:endParaRPr>
          </a:p>
          <a:p>
            <a:r>
              <a:rPr lang="en-US" sz="1600" dirty="0" smtClean="0">
                <a:latin typeface="Arial" pitchFamily="34" charset="0"/>
                <a:cs typeface="Arial" pitchFamily="34" charset="0"/>
              </a:rPr>
              <a:t>The </a:t>
            </a:r>
            <a:r>
              <a:rPr lang="en-US" sz="1600" dirty="0">
                <a:latin typeface="Arial" pitchFamily="34" charset="0"/>
                <a:cs typeface="Arial" pitchFamily="34" charset="0"/>
              </a:rPr>
              <a:t>objective is to identify meaningful patterns, relationships and differences in agricultural performance.</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664E3B60-2780-459A-8583-F095D5E7463A}"/>
              </a:ext>
            </a:extLst>
          </p:cNvPr>
          <p:cNvSpPr>
            <a:spLocks noGrp="1"/>
          </p:cNvSpPr>
          <p:nvPr>
            <p:ph type="body" sz="quarter" idx="12"/>
          </p:nvPr>
        </p:nvSpPr>
        <p:spPr>
          <a:xfrm>
            <a:off x="1184496" y="1302591"/>
            <a:ext cx="7904481" cy="3990023"/>
          </a:xfrm>
        </p:spPr>
        <p:txBody>
          <a:bodyPr>
            <a:normAutofit/>
          </a:bodyPr>
          <a:lstStyle/>
          <a:p>
            <a:pPr algn="just">
              <a:lnSpc>
                <a:spcPct val="150000"/>
              </a:lnSpc>
            </a:pPr>
            <a:r>
              <a:rPr lang="en-IN" sz="1600" dirty="0" smtClean="0"/>
              <a:t> </a:t>
            </a:r>
            <a:r>
              <a:rPr lang="en-IN" sz="1600" dirty="0" smtClean="0">
                <a:solidFill>
                  <a:schemeClr val="tx1"/>
                </a:solidFill>
              </a:rPr>
              <a:t>Farmer- </a:t>
            </a:r>
            <a:r>
              <a:rPr lang="en-IN" sz="1600" dirty="0">
                <a:solidFill>
                  <a:schemeClr val="tx1"/>
                </a:solidFill>
              </a:rPr>
              <a:t>understand crop and seasonal performance.</a:t>
            </a:r>
          </a:p>
          <a:p>
            <a:pPr algn="just">
              <a:lnSpc>
                <a:spcPct val="150000"/>
              </a:lnSpc>
            </a:pPr>
            <a:r>
              <a:rPr lang="en-IN" sz="1600" dirty="0" smtClean="0">
                <a:solidFill>
                  <a:schemeClr val="tx1"/>
                </a:solidFill>
              </a:rPr>
              <a:t> </a:t>
            </a:r>
            <a:r>
              <a:rPr lang="en-IN" sz="1600" dirty="0">
                <a:solidFill>
                  <a:schemeClr val="tx1"/>
                </a:solidFill>
              </a:rPr>
              <a:t>Agricultural Departments – support planning and decision-making.</a:t>
            </a:r>
          </a:p>
          <a:p>
            <a:pPr algn="just">
              <a:lnSpc>
                <a:spcPct val="150000"/>
              </a:lnSpc>
            </a:pPr>
            <a:r>
              <a:rPr lang="en-IN" sz="1600" dirty="0" smtClean="0">
                <a:solidFill>
                  <a:schemeClr val="tx1"/>
                </a:solidFill>
              </a:rPr>
              <a:t> Data </a:t>
            </a:r>
            <a:r>
              <a:rPr lang="en-IN" sz="1600" dirty="0">
                <a:solidFill>
                  <a:schemeClr val="tx1"/>
                </a:solidFill>
              </a:rPr>
              <a:t>Analysts – </a:t>
            </a:r>
            <a:r>
              <a:rPr lang="en-IN" sz="1600" dirty="0" err="1">
                <a:solidFill>
                  <a:schemeClr val="tx1"/>
                </a:solidFill>
              </a:rPr>
              <a:t>analyze</a:t>
            </a:r>
            <a:r>
              <a:rPr lang="en-IN" sz="1600" dirty="0">
                <a:solidFill>
                  <a:schemeClr val="tx1"/>
                </a:solidFill>
              </a:rPr>
              <a:t> agricultural trends and relationships.</a:t>
            </a:r>
          </a:p>
          <a:p>
            <a:pPr algn="just">
              <a:lnSpc>
                <a:spcPct val="150000"/>
              </a:lnSpc>
            </a:pPr>
            <a:r>
              <a:rPr lang="en-IN" sz="1600" dirty="0" smtClean="0">
                <a:solidFill>
                  <a:schemeClr val="tx1"/>
                </a:solidFill>
              </a:rPr>
              <a:t> Agricultural </a:t>
            </a:r>
            <a:r>
              <a:rPr lang="en-IN" sz="1600" dirty="0">
                <a:solidFill>
                  <a:schemeClr val="tx1"/>
                </a:solidFill>
              </a:rPr>
              <a:t>Researchers – study environmental and crop patterns.</a:t>
            </a:r>
          </a:p>
          <a:p>
            <a:pPr algn="just">
              <a:lnSpc>
                <a:spcPct val="150000"/>
              </a:lnSpc>
            </a:pPr>
            <a:r>
              <a:rPr lang="en-IN" sz="1600" dirty="0" smtClean="0">
                <a:solidFill>
                  <a:schemeClr val="tx1"/>
                </a:solidFill>
              </a:rPr>
              <a:t> Resource </a:t>
            </a:r>
            <a:r>
              <a:rPr lang="en-IN" sz="1600" dirty="0">
                <a:solidFill>
                  <a:schemeClr val="tx1"/>
                </a:solidFill>
              </a:rPr>
              <a:t>Managers – evaluate water and fertilizer usage.</a:t>
            </a:r>
          </a:p>
          <a:p>
            <a:pPr algn="just">
              <a:lnSpc>
                <a:spcPct val="150000"/>
              </a:lnSpc>
            </a:pPr>
            <a:r>
              <a:rPr lang="en-IN" sz="1600" dirty="0" smtClean="0">
                <a:solidFill>
                  <a:schemeClr val="tx1"/>
                </a:solidFill>
              </a:rPr>
              <a:t> Agribusinesses </a:t>
            </a:r>
            <a:r>
              <a:rPr lang="en-IN" sz="1600" dirty="0">
                <a:solidFill>
                  <a:schemeClr val="tx1"/>
                </a:solidFill>
              </a:rPr>
              <a:t>– understand production and economic performance</a:t>
            </a:r>
            <a:r>
              <a:rPr lang="en-IN" sz="1600" dirty="0"/>
              <a:t>.</a:t>
            </a:r>
            <a:endParaRPr lang="en-IN" sz="1600" dirty="0"/>
          </a:p>
        </p:txBody>
      </p:sp>
      <p:sp>
        <p:nvSpPr>
          <p:cNvPr id="4" name="Title 3">
            <a:extLst>
              <a:ext uri="{FF2B5EF4-FFF2-40B4-BE49-F238E27FC236}">
                <a16:creationId xmlns:a16="http://schemas.microsoft.com/office/drawing/2014/main" xmlns="" id="{1A4A072B-83C6-4607-AE6A-5AD61CC72C44}"/>
              </a:ext>
            </a:extLst>
          </p:cNvPr>
          <p:cNvSpPr>
            <a:spLocks noGrp="1"/>
          </p:cNvSpPr>
          <p:nvPr>
            <p:ph type="title"/>
          </p:nvPr>
        </p:nvSpPr>
        <p:spPr>
          <a:xfrm>
            <a:off x="441878" y="140347"/>
            <a:ext cx="10046070" cy="802641"/>
          </a:xfrm>
        </p:spPr>
        <p:txBody>
          <a:bodyPr>
            <a:normAutofit/>
          </a:bodyPr>
          <a:lstStyle/>
          <a:p>
            <a:pPr algn="ctr"/>
            <a:r>
              <a:rPr lang="en-US" sz="2400" u="sng" dirty="0"/>
              <a:t>WHO ARE THE END USERS?</a:t>
            </a:r>
            <a:endParaRPr lang="en-IN" sz="2400" u="sng" dirty="0"/>
          </a:p>
        </p:txBody>
      </p:sp>
      <p:pic>
        <p:nvPicPr>
          <p:cNvPr id="6" name="Picture 5">
            <a:extLst>
              <a:ext uri="{FF2B5EF4-FFF2-40B4-BE49-F238E27FC236}">
                <a16:creationId xmlns:a16="http://schemas.microsoft.com/office/drawing/2014/main" xmlns=""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xmlns=""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xmlns="" id="{FEF304F5-32C5-4869-B185-859B567855A8}"/>
              </a:ext>
            </a:extLst>
          </p:cNvPr>
          <p:cNvSpPr>
            <a:spLocks noGrp="1"/>
          </p:cNvSpPr>
          <p:nvPr>
            <p:ph type="title"/>
          </p:nvPr>
        </p:nvSpPr>
        <p:spPr>
          <a:xfrm>
            <a:off x="2524825" y="525570"/>
            <a:ext cx="5306291" cy="847817"/>
          </a:xfrm>
        </p:spPr>
        <p:txBody>
          <a:bodyPr>
            <a:normAutofit/>
          </a:bodyPr>
          <a:lstStyle/>
          <a:p>
            <a:pPr algn="ctr"/>
            <a:r>
              <a:rPr lang="en-US" sz="3200" u="sng" dirty="0"/>
              <a:t>Technology Used</a:t>
            </a:r>
          </a:p>
        </p:txBody>
      </p:sp>
      <p:sp>
        <p:nvSpPr>
          <p:cNvPr id="4" name="TextBox 3"/>
          <p:cNvSpPr txBox="1"/>
          <p:nvPr/>
        </p:nvSpPr>
        <p:spPr>
          <a:xfrm>
            <a:off x="1944255" y="1615044"/>
            <a:ext cx="6490430" cy="4031873"/>
          </a:xfrm>
          <a:prstGeom prst="rect">
            <a:avLst/>
          </a:prstGeom>
          <a:noFill/>
        </p:spPr>
        <p:txBody>
          <a:bodyPr wrap="square" rtlCol="0">
            <a:spAutoFit/>
          </a:bodyPr>
          <a:lstStyle/>
          <a:p>
            <a:r>
              <a:rPr lang="en-US" sz="1600" b="1" dirty="0">
                <a:latin typeface="Arial" pitchFamily="34" charset="0"/>
                <a:cs typeface="Arial" pitchFamily="34" charset="0"/>
              </a:rPr>
              <a:t>Programming </a:t>
            </a:r>
            <a:r>
              <a:rPr lang="en-US" sz="1600" b="1" dirty="0" smtClean="0">
                <a:latin typeface="Arial" pitchFamily="34" charset="0"/>
                <a:cs typeface="Arial" pitchFamily="34" charset="0"/>
              </a:rPr>
              <a:t>Language</a:t>
            </a:r>
            <a:endParaRPr lang="en-US" sz="1100" b="1" dirty="0" smtClean="0">
              <a:latin typeface="Arial" pitchFamily="34" charset="0"/>
              <a:cs typeface="Arial" pitchFamily="34" charset="0"/>
            </a:endParaRPr>
          </a:p>
          <a:p>
            <a:pPr marL="285750" indent="-285750">
              <a:buFont typeface="Arial" pitchFamily="34" charset="0"/>
              <a:buChar char="•"/>
            </a:pPr>
            <a:r>
              <a:rPr lang="en-US" sz="1600" dirty="0" smtClean="0">
                <a:latin typeface="Arial" pitchFamily="34" charset="0"/>
                <a:cs typeface="Arial" pitchFamily="34" charset="0"/>
              </a:rPr>
              <a:t>Python</a:t>
            </a:r>
          </a:p>
          <a:p>
            <a:pPr marL="285750" indent="-285750">
              <a:buFont typeface="Arial" pitchFamily="34" charset="0"/>
              <a:buChar char="•"/>
            </a:pPr>
            <a:endParaRPr lang="en-US" sz="1600" dirty="0">
              <a:latin typeface="Arial" pitchFamily="34" charset="0"/>
              <a:cs typeface="Arial" pitchFamily="34" charset="0"/>
            </a:endParaRPr>
          </a:p>
          <a:p>
            <a:r>
              <a:rPr lang="en-US" sz="1600" b="1" dirty="0" smtClean="0">
                <a:latin typeface="Arial" pitchFamily="34" charset="0"/>
                <a:cs typeface="Arial" pitchFamily="34" charset="0"/>
              </a:rPr>
              <a:t>Libraries</a:t>
            </a:r>
          </a:p>
          <a:p>
            <a:pPr marL="285750" indent="-285750">
              <a:buFont typeface="Arial" pitchFamily="34" charset="0"/>
              <a:buChar char="•"/>
            </a:pPr>
            <a:r>
              <a:rPr lang="en-US" sz="1600" dirty="0" smtClean="0">
                <a:latin typeface="Arial" pitchFamily="34" charset="0"/>
                <a:cs typeface="Arial" pitchFamily="34" charset="0"/>
              </a:rPr>
              <a:t>Pandas </a:t>
            </a:r>
            <a:r>
              <a:rPr lang="en-US" sz="1600" dirty="0">
                <a:latin typeface="Arial" pitchFamily="34" charset="0"/>
                <a:cs typeface="Arial" pitchFamily="34" charset="0"/>
              </a:rPr>
              <a:t>– Data manipulation and analysis</a:t>
            </a:r>
          </a:p>
          <a:p>
            <a:pPr marL="285750" indent="-285750">
              <a:buFont typeface="Arial" pitchFamily="34" charset="0"/>
              <a:buChar char="•"/>
            </a:pPr>
            <a:r>
              <a:rPr lang="en-US" sz="1600" dirty="0" err="1">
                <a:latin typeface="Arial" pitchFamily="34" charset="0"/>
                <a:cs typeface="Arial" pitchFamily="34" charset="0"/>
              </a:rPr>
              <a:t>NumPy</a:t>
            </a:r>
            <a:r>
              <a:rPr lang="en-US" sz="1600" dirty="0">
                <a:latin typeface="Arial" pitchFamily="34" charset="0"/>
                <a:cs typeface="Arial" pitchFamily="34" charset="0"/>
              </a:rPr>
              <a:t> – Numerical operations</a:t>
            </a:r>
          </a:p>
          <a:p>
            <a:pPr marL="285750" indent="-285750">
              <a:buFont typeface="Arial" pitchFamily="34" charset="0"/>
              <a:buChar char="•"/>
            </a:pPr>
            <a:r>
              <a:rPr lang="en-US" sz="1600" dirty="0" err="1">
                <a:latin typeface="Arial" pitchFamily="34" charset="0"/>
                <a:cs typeface="Arial" pitchFamily="34" charset="0"/>
              </a:rPr>
              <a:t>Matplotlib</a:t>
            </a:r>
            <a:r>
              <a:rPr lang="en-US" sz="1600" dirty="0">
                <a:latin typeface="Arial" pitchFamily="34" charset="0"/>
                <a:cs typeface="Arial" pitchFamily="34" charset="0"/>
              </a:rPr>
              <a:t> – Data visualization</a:t>
            </a:r>
          </a:p>
          <a:p>
            <a:pPr marL="285750" indent="-285750">
              <a:buFont typeface="Arial" pitchFamily="34" charset="0"/>
              <a:buChar char="•"/>
            </a:pPr>
            <a:r>
              <a:rPr lang="en-US" sz="1600" dirty="0" err="1">
                <a:latin typeface="Arial" pitchFamily="34" charset="0"/>
                <a:cs typeface="Arial" pitchFamily="34" charset="0"/>
              </a:rPr>
              <a:t>Seaborn</a:t>
            </a:r>
            <a:r>
              <a:rPr lang="en-US" sz="1600" dirty="0">
                <a:latin typeface="Arial" pitchFamily="34" charset="0"/>
                <a:cs typeface="Arial" pitchFamily="34" charset="0"/>
              </a:rPr>
              <a:t> – Statistical visualization</a:t>
            </a:r>
          </a:p>
          <a:p>
            <a:pPr marL="285750" indent="-285750">
              <a:buFont typeface="Arial" pitchFamily="34" charset="0"/>
              <a:buChar char="•"/>
            </a:pPr>
            <a:r>
              <a:rPr lang="en-US" sz="1600" dirty="0" err="1">
                <a:latin typeface="Arial" pitchFamily="34" charset="0"/>
                <a:cs typeface="Arial" pitchFamily="34" charset="0"/>
              </a:rPr>
              <a:t>SciPy</a:t>
            </a:r>
            <a:r>
              <a:rPr lang="en-US" sz="1600" dirty="0">
                <a:latin typeface="Arial" pitchFamily="34" charset="0"/>
                <a:cs typeface="Arial" pitchFamily="34" charset="0"/>
              </a:rPr>
              <a:t> – Statistical testing and </a:t>
            </a:r>
            <a:r>
              <a:rPr lang="en-US" sz="1600" dirty="0" smtClean="0">
                <a:latin typeface="Arial" pitchFamily="34" charset="0"/>
                <a:cs typeface="Arial" pitchFamily="34" charset="0"/>
              </a:rPr>
              <a:t>ANOVA</a:t>
            </a:r>
          </a:p>
          <a:p>
            <a:pPr marL="285750" indent="-285750">
              <a:buFont typeface="Arial" pitchFamily="34" charset="0"/>
              <a:buChar char="•"/>
            </a:pPr>
            <a:endParaRPr lang="en-US" sz="1600" dirty="0">
              <a:latin typeface="Arial" pitchFamily="34" charset="0"/>
              <a:cs typeface="Arial" pitchFamily="34" charset="0"/>
            </a:endParaRPr>
          </a:p>
          <a:p>
            <a:r>
              <a:rPr lang="en-US" sz="1600" b="1" dirty="0">
                <a:latin typeface="Arial" pitchFamily="34" charset="0"/>
                <a:cs typeface="Arial" pitchFamily="34" charset="0"/>
              </a:rPr>
              <a:t>Platform</a:t>
            </a:r>
          </a:p>
          <a:p>
            <a:pPr marL="285750" indent="-285750">
              <a:buFont typeface="Arial" pitchFamily="34" charset="0"/>
              <a:buChar char="•"/>
            </a:pPr>
            <a:r>
              <a:rPr lang="en-US" sz="1600" dirty="0">
                <a:latin typeface="Arial" pitchFamily="34" charset="0"/>
                <a:cs typeface="Arial" pitchFamily="34" charset="0"/>
              </a:rPr>
              <a:t>Google </a:t>
            </a:r>
            <a:r>
              <a:rPr lang="en-US" sz="1600" dirty="0" err="1">
                <a:latin typeface="Arial" pitchFamily="34" charset="0"/>
                <a:cs typeface="Arial" pitchFamily="34" charset="0"/>
              </a:rPr>
              <a:t>Colab</a:t>
            </a:r>
            <a:endParaRPr lang="en-US" sz="1600" dirty="0">
              <a:latin typeface="Arial" pitchFamily="34" charset="0"/>
              <a:cs typeface="Arial" pitchFamily="34" charset="0"/>
            </a:endParaRPr>
          </a:p>
          <a:p>
            <a:pPr marL="285750" indent="-285750">
              <a:buFont typeface="Arial" pitchFamily="34" charset="0"/>
              <a:buChar char="•"/>
            </a:pPr>
            <a:r>
              <a:rPr lang="en-US" sz="1600" dirty="0" err="1">
                <a:latin typeface="Arial" pitchFamily="34" charset="0"/>
                <a:cs typeface="Arial" pitchFamily="34" charset="0"/>
              </a:rPr>
              <a:t>Jupyter</a:t>
            </a:r>
            <a:r>
              <a:rPr lang="en-US" sz="1600" dirty="0">
                <a:latin typeface="Arial" pitchFamily="34" charset="0"/>
                <a:cs typeface="Arial" pitchFamily="34" charset="0"/>
              </a:rPr>
              <a:t> </a:t>
            </a:r>
            <a:r>
              <a:rPr lang="en-US" sz="1600" dirty="0" smtClean="0">
                <a:latin typeface="Arial" pitchFamily="34" charset="0"/>
                <a:cs typeface="Arial" pitchFamily="34" charset="0"/>
              </a:rPr>
              <a:t>Notebook</a:t>
            </a:r>
          </a:p>
          <a:p>
            <a:pPr marL="285750" indent="-285750">
              <a:buFont typeface="Arial" pitchFamily="34" charset="0"/>
              <a:buChar char="•"/>
            </a:pPr>
            <a:endParaRPr lang="en-US" sz="1600" dirty="0">
              <a:latin typeface="Arial" pitchFamily="34" charset="0"/>
              <a:cs typeface="Arial" pitchFamily="34" charset="0"/>
            </a:endParaRPr>
          </a:p>
          <a:p>
            <a:r>
              <a:rPr lang="en-US" sz="1600" b="1" dirty="0">
                <a:latin typeface="Arial" pitchFamily="34" charset="0"/>
                <a:cs typeface="Arial" pitchFamily="34" charset="0"/>
              </a:rPr>
              <a:t>Dataset</a:t>
            </a:r>
          </a:p>
          <a:p>
            <a:pPr marL="285750" indent="-285750">
              <a:buFont typeface="Arial" pitchFamily="34" charset="0"/>
              <a:buChar char="•"/>
            </a:pPr>
            <a:r>
              <a:rPr lang="en-US" sz="1600" dirty="0">
                <a:latin typeface="Arial" pitchFamily="34" charset="0"/>
                <a:cs typeface="Arial" pitchFamily="34" charset="0"/>
              </a:rPr>
              <a:t>CSV format</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129692" y="85581"/>
            <a:ext cx="2981643" cy="830997"/>
          </a:xfrm>
        </p:spPr>
        <p:txBody>
          <a:bodyPr>
            <a:normAutofit/>
          </a:bodyPr>
          <a:lstStyle/>
          <a:p>
            <a:pPr algn="ctr"/>
            <a:r>
              <a:rPr lang="en-GB" sz="2800" u="sng" dirty="0"/>
              <a:t>RESULTS </a:t>
            </a:r>
            <a:endParaRPr lang="en-IN" sz="2800" u="sng" dirty="0"/>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7070" y="691551"/>
            <a:ext cx="4381500" cy="2886075"/>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81167" y="691551"/>
            <a:ext cx="4747842" cy="2886076"/>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7071" y="3681351"/>
            <a:ext cx="4381500" cy="3087584"/>
          </a:xfrm>
          <a:prstGeom prst="rect">
            <a:avLst/>
          </a:prstGeom>
        </p:spPr>
      </p:pic>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81167" y="3716976"/>
            <a:ext cx="3401909" cy="3051959"/>
          </a:xfrm>
          <a:prstGeom prst="rect">
            <a:avLst/>
          </a:prstGeom>
        </p:spPr>
      </p:pic>
      <p:pic>
        <p:nvPicPr>
          <p:cNvPr id="11" name="Picture 10"/>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251804" y="4369435"/>
            <a:ext cx="3476625" cy="2295525"/>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6D5AF756-BADB-9E87-14AC-F87A8C7463BF}"/>
              </a:ext>
            </a:extLst>
          </p:cNvPr>
          <p:cNvSpPr>
            <a:spLocks noGrp="1"/>
          </p:cNvSpPr>
          <p:nvPr>
            <p:ph type="title"/>
          </p:nvPr>
        </p:nvSpPr>
        <p:spPr>
          <a:xfrm>
            <a:off x="105942" y="121207"/>
            <a:ext cx="2981643" cy="830997"/>
          </a:xfrm>
        </p:spPr>
        <p:txBody>
          <a:bodyPr>
            <a:normAutofit/>
          </a:bodyPr>
          <a:lstStyle/>
          <a:p>
            <a:r>
              <a:rPr lang="en-GB" sz="2400" u="sng" dirty="0"/>
              <a:t>RESULTS </a:t>
            </a:r>
            <a:endParaRPr lang="en-IN" sz="2400" u="sng" dirty="0"/>
          </a:p>
        </p:txBody>
      </p:sp>
      <p:sp>
        <p:nvSpPr>
          <p:cNvPr id="7" name="Text Placeholder 30">
            <a:extLst>
              <a:ext uri="{FF2B5EF4-FFF2-40B4-BE49-F238E27FC236}">
                <a16:creationId xmlns:a16="http://schemas.microsoft.com/office/drawing/2014/main" xmlns=""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6456" y="878773"/>
            <a:ext cx="4579432" cy="2838203"/>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52010" y="878773"/>
            <a:ext cx="4560125" cy="2838203"/>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0982" y="3716976"/>
            <a:ext cx="4494906" cy="2730183"/>
          </a:xfrm>
          <a:prstGeom prst="rect">
            <a:avLst/>
          </a:prstGeom>
        </p:spPr>
      </p:pic>
      <p:pic>
        <p:nvPicPr>
          <p:cNvPr id="11" name="Picture 1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80074" y="3742565"/>
            <a:ext cx="4132061" cy="2446818"/>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DFCD5524-F764-DC63-6F54-D48057CF17B7}"/>
              </a:ext>
            </a:extLst>
          </p:cNvPr>
          <p:cNvSpPr>
            <a:spLocks noGrp="1"/>
          </p:cNvSpPr>
          <p:nvPr>
            <p:ph type="title"/>
          </p:nvPr>
        </p:nvSpPr>
        <p:spPr>
          <a:xfrm>
            <a:off x="207522" y="85581"/>
            <a:ext cx="2981643" cy="830997"/>
          </a:xfrm>
        </p:spPr>
        <p:txBody>
          <a:bodyPr>
            <a:normAutofit/>
          </a:bodyPr>
          <a:lstStyle/>
          <a:p>
            <a:r>
              <a:rPr lang="en-GB" sz="2400" u="sng" dirty="0"/>
              <a:t>RESULTS </a:t>
            </a:r>
            <a:endParaRPr lang="en-IN" sz="2400" u="sng" dirty="0"/>
          </a:p>
        </p:txBody>
      </p:sp>
      <p:sp>
        <p:nvSpPr>
          <p:cNvPr id="7" name="Text Placeholder 30">
            <a:extLst>
              <a:ext uri="{FF2B5EF4-FFF2-40B4-BE49-F238E27FC236}">
                <a16:creationId xmlns:a16="http://schemas.microsoft.com/office/drawing/2014/main" xmlns=""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5873" y="643433"/>
            <a:ext cx="4705513" cy="3065094"/>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11387" y="757237"/>
            <a:ext cx="4417621" cy="2615355"/>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9403" y="3585853"/>
            <a:ext cx="4439357" cy="2648692"/>
          </a:xfrm>
          <a:prstGeom prst="rect">
            <a:avLst/>
          </a:prstGeom>
        </p:spPr>
      </p:pic>
      <p:pic>
        <p:nvPicPr>
          <p:cNvPr id="11" name="Picture 1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211730" y="3603666"/>
            <a:ext cx="4003522" cy="2363190"/>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15FD49EE-0956-AAE3-737B-15F7D4267C1A}"/>
              </a:ext>
            </a:extLst>
          </p:cNvPr>
          <p:cNvSpPr>
            <a:spLocks noGrp="1"/>
          </p:cNvSpPr>
          <p:nvPr>
            <p:ph type="title"/>
          </p:nvPr>
        </p:nvSpPr>
        <p:spPr>
          <a:xfrm>
            <a:off x="501940" y="-154377"/>
            <a:ext cx="2981643" cy="524692"/>
          </a:xfrm>
        </p:spPr>
        <p:txBody>
          <a:bodyPr>
            <a:normAutofit fontScale="90000"/>
          </a:bodyPr>
          <a:lstStyle/>
          <a:p>
            <a:r>
              <a:rPr lang="en-GB" sz="2400" u="sng" dirty="0"/>
              <a:t>RESULTS</a:t>
            </a:r>
            <a:r>
              <a:rPr lang="en-GB" dirty="0"/>
              <a:t> </a:t>
            </a:r>
            <a:endParaRPr lang="en-IN" dirty="0"/>
          </a:p>
        </p:txBody>
      </p:sp>
      <p:sp>
        <p:nvSpPr>
          <p:cNvPr id="7" name="Text Placeholder 30">
            <a:extLst>
              <a:ext uri="{FF2B5EF4-FFF2-40B4-BE49-F238E27FC236}">
                <a16:creationId xmlns:a16="http://schemas.microsoft.com/office/drawing/2014/main" xmlns=""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7182" y="735225"/>
            <a:ext cx="4439825" cy="2776964"/>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13267" y="656421"/>
            <a:ext cx="4251367" cy="2934572"/>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5958" y="3590993"/>
            <a:ext cx="4181050" cy="2659941"/>
          </a:xfrm>
          <a:prstGeom prst="rect">
            <a:avLst/>
          </a:prstGeom>
        </p:spPr>
      </p:pic>
      <p:pic>
        <p:nvPicPr>
          <p:cNvPr id="11" name="Picture 1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082639" y="3590993"/>
            <a:ext cx="4381995" cy="2654116"/>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9E35150-35BD-1B1F-9A8C-890DBFDF3B54}"/>
              </a:ext>
            </a:extLst>
          </p:cNvPr>
          <p:cNvSpPr>
            <a:spLocks noGrp="1"/>
          </p:cNvSpPr>
          <p:nvPr>
            <p:ph type="title"/>
          </p:nvPr>
        </p:nvSpPr>
        <p:spPr>
          <a:xfrm>
            <a:off x="256697" y="109332"/>
            <a:ext cx="2981643" cy="830997"/>
          </a:xfrm>
        </p:spPr>
        <p:txBody>
          <a:bodyPr>
            <a:normAutofit/>
          </a:bodyPr>
          <a:lstStyle/>
          <a:p>
            <a:r>
              <a:rPr lang="en-GB" sz="2400" u="sng" dirty="0"/>
              <a:t>RESULTS </a:t>
            </a:r>
            <a:endParaRPr lang="en-IN" sz="2400" u="sng" dirty="0"/>
          </a:p>
        </p:txBody>
      </p:sp>
      <p:sp>
        <p:nvSpPr>
          <p:cNvPr id="7" name="Text Placeholder 30">
            <a:extLst>
              <a:ext uri="{FF2B5EF4-FFF2-40B4-BE49-F238E27FC236}">
                <a16:creationId xmlns:a16="http://schemas.microsoft.com/office/drawing/2014/main" xmlns=""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0982" y="719137"/>
            <a:ext cx="4049137" cy="2920100"/>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09507" y="719136"/>
            <a:ext cx="4738254" cy="2746333"/>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2719" y="3759918"/>
            <a:ext cx="4072904" cy="2535295"/>
          </a:xfrm>
          <a:prstGeom prst="rect">
            <a:avLst/>
          </a:prstGeom>
        </p:spPr>
      </p:pic>
      <p:pic>
        <p:nvPicPr>
          <p:cNvPr id="11" name="Picture 1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04356" y="3759917"/>
            <a:ext cx="4843405" cy="2515179"/>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B097C2C-D75A-31D4-CD9F-366F39CDE51D}"/>
              </a:ext>
            </a:extLst>
          </p:cNvPr>
          <p:cNvSpPr>
            <a:spLocks noGrp="1"/>
          </p:cNvSpPr>
          <p:nvPr>
            <p:ph type="title"/>
          </p:nvPr>
        </p:nvSpPr>
        <p:spPr>
          <a:xfrm>
            <a:off x="2819082" y="263711"/>
            <a:ext cx="4735798" cy="830997"/>
          </a:xfrm>
        </p:spPr>
        <p:txBody>
          <a:bodyPr>
            <a:normAutofit/>
          </a:bodyPr>
          <a:lstStyle/>
          <a:p>
            <a:pPr algn="ctr"/>
            <a:r>
              <a:rPr lang="en-IN" sz="3200" u="sng" dirty="0"/>
              <a:t>Future scope</a:t>
            </a:r>
          </a:p>
        </p:txBody>
      </p:sp>
      <p:sp>
        <p:nvSpPr>
          <p:cNvPr id="7" name="Text Placeholder 30">
            <a:extLst>
              <a:ext uri="{FF2B5EF4-FFF2-40B4-BE49-F238E27FC236}">
                <a16:creationId xmlns:a16="http://schemas.microsoft.com/office/drawing/2014/main" xmlns=""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p:cNvSpPr txBox="1"/>
          <p:nvPr/>
        </p:nvSpPr>
        <p:spPr>
          <a:xfrm>
            <a:off x="1080655" y="1275371"/>
            <a:ext cx="8146473" cy="3785652"/>
          </a:xfrm>
          <a:prstGeom prst="rect">
            <a:avLst/>
          </a:prstGeom>
          <a:noFill/>
        </p:spPr>
        <p:txBody>
          <a:bodyPr wrap="square" rtlCol="0">
            <a:spAutoFit/>
          </a:bodyPr>
          <a:lstStyle/>
          <a:p>
            <a:pPr marL="285750" indent="-285750">
              <a:buFont typeface="Arial" pitchFamily="34" charset="0"/>
              <a:buChar char="•"/>
            </a:pPr>
            <a:r>
              <a:rPr lang="en-US" sz="1600" b="1" dirty="0">
                <a:latin typeface="Arial" pitchFamily="34" charset="0"/>
                <a:cs typeface="Arial" pitchFamily="34" charset="0"/>
              </a:rPr>
              <a:t>Real-time agricultural monitoring using </a:t>
            </a:r>
            <a:r>
              <a:rPr lang="en-US" sz="1600" dirty="0">
                <a:latin typeface="Arial" pitchFamily="34" charset="0"/>
                <a:cs typeface="Arial" pitchFamily="34" charset="0"/>
              </a:rPr>
              <a:t>live weather and soil data</a:t>
            </a:r>
            <a:r>
              <a:rPr lang="en-US" sz="1600" dirty="0" smtClean="0">
                <a:latin typeface="Arial" pitchFamily="34" charset="0"/>
                <a:cs typeface="Arial" pitchFamily="34" charset="0"/>
              </a:rPr>
              <a:t>.</a:t>
            </a:r>
          </a:p>
          <a:p>
            <a:endParaRPr lang="en-US" sz="1600" dirty="0">
              <a:latin typeface="Arial" pitchFamily="34" charset="0"/>
              <a:cs typeface="Arial" pitchFamily="34" charset="0"/>
            </a:endParaRPr>
          </a:p>
          <a:p>
            <a:pPr marL="285750" indent="-285750">
              <a:buFont typeface="Arial" pitchFamily="34" charset="0"/>
              <a:buChar char="•"/>
            </a:pPr>
            <a:r>
              <a:rPr lang="en-US" sz="1600" b="1" dirty="0">
                <a:latin typeface="Arial" pitchFamily="34" charset="0"/>
                <a:cs typeface="Arial" pitchFamily="34" charset="0"/>
              </a:rPr>
              <a:t>Predictive analytics</a:t>
            </a:r>
            <a:r>
              <a:rPr lang="en-US" sz="1600" dirty="0">
                <a:latin typeface="Arial" pitchFamily="34" charset="0"/>
                <a:cs typeface="Arial" pitchFamily="34" charset="0"/>
              </a:rPr>
              <a:t> to forecast crop yield and seasonal performance</a:t>
            </a:r>
            <a:r>
              <a:rPr lang="en-US" sz="1600" dirty="0" smtClean="0">
                <a:latin typeface="Arial" pitchFamily="34" charset="0"/>
                <a:cs typeface="Arial" pitchFamily="34" charset="0"/>
              </a:rPr>
              <a:t>.</a:t>
            </a:r>
          </a:p>
          <a:p>
            <a:endParaRPr lang="en-US" sz="1600" dirty="0">
              <a:latin typeface="Arial" pitchFamily="34" charset="0"/>
              <a:cs typeface="Arial" pitchFamily="34" charset="0"/>
            </a:endParaRPr>
          </a:p>
          <a:p>
            <a:pPr marL="285750" indent="-285750">
              <a:buFont typeface="Arial" pitchFamily="34" charset="0"/>
              <a:buChar char="•"/>
            </a:pPr>
            <a:r>
              <a:rPr lang="en-US" sz="1600" b="1" dirty="0">
                <a:latin typeface="Arial" pitchFamily="34" charset="0"/>
                <a:cs typeface="Arial" pitchFamily="34" charset="0"/>
              </a:rPr>
              <a:t>Crop recommendation system</a:t>
            </a:r>
            <a:r>
              <a:rPr lang="en-US" sz="1600" dirty="0">
                <a:latin typeface="Arial" pitchFamily="34" charset="0"/>
                <a:cs typeface="Arial" pitchFamily="34" charset="0"/>
              </a:rPr>
              <a:t> based on soil, climate and seasonal </a:t>
            </a:r>
            <a:r>
              <a:rPr lang="en-US" sz="1600" dirty="0" smtClean="0">
                <a:latin typeface="Arial" pitchFamily="34" charset="0"/>
                <a:cs typeface="Arial" pitchFamily="34" charset="0"/>
              </a:rPr>
              <a:t>conditions</a:t>
            </a:r>
          </a:p>
          <a:p>
            <a:endParaRPr lang="en-US" sz="1600" dirty="0">
              <a:latin typeface="Arial" pitchFamily="34" charset="0"/>
              <a:cs typeface="Arial" pitchFamily="34" charset="0"/>
            </a:endParaRPr>
          </a:p>
          <a:p>
            <a:pPr marL="285750" indent="-285750">
              <a:buFont typeface="Arial" pitchFamily="34" charset="0"/>
              <a:buChar char="•"/>
            </a:pPr>
            <a:r>
              <a:rPr lang="en-US" sz="1600" b="1" dirty="0">
                <a:latin typeface="Arial" pitchFamily="34" charset="0"/>
                <a:cs typeface="Arial" pitchFamily="34" charset="0"/>
              </a:rPr>
              <a:t>Smart irrigation</a:t>
            </a:r>
            <a:r>
              <a:rPr lang="en-US" sz="1600" dirty="0">
                <a:latin typeface="Arial" pitchFamily="34" charset="0"/>
                <a:cs typeface="Arial" pitchFamily="34" charset="0"/>
              </a:rPr>
              <a:t> to optimize water usage and improve water efficiency</a:t>
            </a:r>
            <a:r>
              <a:rPr lang="en-US" sz="1600" dirty="0" smtClean="0">
                <a:latin typeface="Arial" pitchFamily="34" charset="0"/>
                <a:cs typeface="Arial" pitchFamily="34" charset="0"/>
              </a:rPr>
              <a:t>.</a:t>
            </a:r>
          </a:p>
          <a:p>
            <a:endParaRPr lang="en-US" sz="1600" dirty="0">
              <a:latin typeface="Arial" pitchFamily="34" charset="0"/>
              <a:cs typeface="Arial" pitchFamily="34" charset="0"/>
            </a:endParaRPr>
          </a:p>
          <a:p>
            <a:pPr marL="285750" indent="-285750">
              <a:buFont typeface="Arial" pitchFamily="34" charset="0"/>
              <a:buChar char="•"/>
            </a:pPr>
            <a:r>
              <a:rPr lang="en-US" sz="1600" b="1" dirty="0">
                <a:latin typeface="Arial" pitchFamily="34" charset="0"/>
                <a:cs typeface="Arial" pitchFamily="34" charset="0"/>
              </a:rPr>
              <a:t>Disease and pest prediction </a:t>
            </a:r>
            <a:r>
              <a:rPr lang="en-US" sz="1600" dirty="0">
                <a:latin typeface="Arial" pitchFamily="34" charset="0"/>
                <a:cs typeface="Arial" pitchFamily="34" charset="0"/>
              </a:rPr>
              <a:t>using environmental and historical data</a:t>
            </a:r>
            <a:r>
              <a:rPr lang="en-US" sz="1600" dirty="0" smtClean="0">
                <a:latin typeface="Arial" pitchFamily="34" charset="0"/>
                <a:cs typeface="Arial" pitchFamily="34" charset="0"/>
              </a:rPr>
              <a:t>.</a:t>
            </a:r>
          </a:p>
          <a:p>
            <a:endParaRPr lang="en-US" sz="1600" dirty="0">
              <a:latin typeface="Arial" pitchFamily="34" charset="0"/>
              <a:cs typeface="Arial" pitchFamily="34" charset="0"/>
            </a:endParaRPr>
          </a:p>
          <a:p>
            <a:pPr marL="285750" indent="-285750">
              <a:buFont typeface="Arial" pitchFamily="34" charset="0"/>
              <a:buChar char="•"/>
            </a:pPr>
            <a:r>
              <a:rPr lang="en-US" sz="1600" b="1" dirty="0">
                <a:latin typeface="Arial" pitchFamily="34" charset="0"/>
                <a:cs typeface="Arial" pitchFamily="34" charset="0"/>
              </a:rPr>
              <a:t>Interactive dashboard </a:t>
            </a:r>
            <a:r>
              <a:rPr lang="en-US" sz="1600" dirty="0">
                <a:latin typeface="Arial" pitchFamily="34" charset="0"/>
                <a:cs typeface="Arial" pitchFamily="34" charset="0"/>
              </a:rPr>
              <a:t>for farmers and agricultural departments</a:t>
            </a:r>
            <a:r>
              <a:rPr lang="en-US" sz="1600" dirty="0" smtClean="0">
                <a:latin typeface="Arial" pitchFamily="34" charset="0"/>
                <a:cs typeface="Arial" pitchFamily="34" charset="0"/>
              </a:rPr>
              <a:t>.</a:t>
            </a:r>
          </a:p>
          <a:p>
            <a:endParaRPr lang="en-US" sz="1600" dirty="0">
              <a:latin typeface="Arial" pitchFamily="34" charset="0"/>
              <a:cs typeface="Arial" pitchFamily="34" charset="0"/>
            </a:endParaRPr>
          </a:p>
          <a:p>
            <a:pPr marL="285750" indent="-285750">
              <a:buFont typeface="Arial" pitchFamily="34" charset="0"/>
              <a:buChar char="•"/>
            </a:pPr>
            <a:r>
              <a:rPr lang="en-US" sz="1600" b="1" dirty="0">
                <a:latin typeface="Arial" pitchFamily="34" charset="0"/>
                <a:cs typeface="Arial" pitchFamily="34" charset="0"/>
              </a:rPr>
              <a:t>Regional comparison and planning </a:t>
            </a:r>
            <a:r>
              <a:rPr lang="en-US" sz="1600" dirty="0">
                <a:latin typeface="Arial" pitchFamily="34" charset="0"/>
                <a:cs typeface="Arial" pitchFamily="34" charset="0"/>
              </a:rPr>
              <a:t>to identify high-performing areas</a:t>
            </a:r>
            <a:r>
              <a:rPr lang="en-US" sz="1600" dirty="0" smtClean="0">
                <a:latin typeface="Arial" pitchFamily="34" charset="0"/>
                <a:cs typeface="Arial" pitchFamily="34" charset="0"/>
              </a:rPr>
              <a:t>.</a:t>
            </a:r>
          </a:p>
          <a:p>
            <a:endParaRPr lang="en-US" sz="1600" dirty="0">
              <a:latin typeface="Arial" pitchFamily="34" charset="0"/>
              <a:cs typeface="Arial" pitchFamily="34" charset="0"/>
            </a:endParaRPr>
          </a:p>
          <a:p>
            <a:pPr marL="285750" indent="-285750">
              <a:buFont typeface="Arial" pitchFamily="34" charset="0"/>
              <a:buChar char="•"/>
            </a:pPr>
            <a:r>
              <a:rPr lang="en-US" sz="1600" b="1" dirty="0">
                <a:latin typeface="Arial" pitchFamily="34" charset="0"/>
                <a:cs typeface="Arial" pitchFamily="34" charset="0"/>
              </a:rPr>
              <a:t>Integration with </a:t>
            </a:r>
            <a:r>
              <a:rPr lang="en-US" sz="1600" b="1" dirty="0" err="1">
                <a:latin typeface="Arial" pitchFamily="34" charset="0"/>
                <a:cs typeface="Arial" pitchFamily="34" charset="0"/>
              </a:rPr>
              <a:t>IoT</a:t>
            </a:r>
            <a:r>
              <a:rPr lang="en-US" sz="1600" b="1" dirty="0">
                <a:latin typeface="Arial" pitchFamily="34" charset="0"/>
                <a:cs typeface="Arial" pitchFamily="34" charset="0"/>
              </a:rPr>
              <a:t> sensors </a:t>
            </a:r>
            <a:r>
              <a:rPr lang="en-US" sz="1600" dirty="0">
                <a:latin typeface="Arial" pitchFamily="34" charset="0"/>
                <a:cs typeface="Arial" pitchFamily="34" charset="0"/>
              </a:rPr>
              <a:t>for real-time farm data collection.</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01A2257-2F98-CB88-038E-C0F1D0A1A363}"/>
              </a:ext>
            </a:extLst>
          </p:cNvPr>
          <p:cNvSpPr>
            <a:spLocks noGrp="1"/>
          </p:cNvSpPr>
          <p:nvPr>
            <p:ph type="title"/>
          </p:nvPr>
        </p:nvSpPr>
        <p:spPr>
          <a:xfrm>
            <a:off x="675957" y="370589"/>
            <a:ext cx="4735798" cy="830997"/>
          </a:xfrm>
        </p:spPr>
        <p:txBody>
          <a:bodyPr>
            <a:normAutofit/>
          </a:bodyPr>
          <a:lstStyle/>
          <a:p>
            <a:r>
              <a:rPr lang="en-IN" sz="4000" u="sng" dirty="0"/>
              <a:t>GitHub Link</a:t>
            </a:r>
          </a:p>
        </p:txBody>
      </p:sp>
      <p:sp>
        <p:nvSpPr>
          <p:cNvPr id="7" name="Text Placeholder 30">
            <a:extLst>
              <a:ext uri="{FF2B5EF4-FFF2-40B4-BE49-F238E27FC236}">
                <a16:creationId xmlns:a16="http://schemas.microsoft.com/office/drawing/2014/main" xmlns=""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xmlns=""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hlinkClick r:id="rId3"/>
              </a:rPr>
              <a:t>https://github.com/Khushi07708/Seasonal-agriculture-performance-analysis</a:t>
            </a:r>
            <a:endParaRPr lang="en-US"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xmlns=""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xmlns=""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xmlns=""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xmlns=""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xmlns=""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xmlns=""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xmlns=""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xmlns=""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xmlns=""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xmlns=""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purl.org/dc/dcmitype/"/>
    <ds:schemaRef ds:uri="http://schemas.microsoft.com/office/infopath/2007/PartnerControls"/>
    <ds:schemaRef ds:uri="http://purl.org/dc/elements/1.1/"/>
    <ds:schemaRef ds:uri="http://schemas.microsoft.com/office/2006/documentManagement/types"/>
    <ds:schemaRef ds:uri="http://purl.org/dc/terms/"/>
    <ds:schemaRef ds:uri="http://schemas.openxmlformats.org/package/2006/metadata/core-properties"/>
    <ds:schemaRef ds:uri="16c05727-aa75-4e4a-9b5f-8a80a1165891"/>
    <ds:schemaRef ds:uri="71af3243-3dd4-4a8d-8c0d-dd76da1f02a5"/>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1455</TotalTime>
  <Words>396</Words>
  <Application>Microsoft Office PowerPoint</Application>
  <PresentationFormat>Custom</PresentationFormat>
  <Paragraphs>76</Paragraphs>
  <Slides>14</Slides>
  <Notes>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Facet</vt:lpstr>
      <vt:lpstr>Project Title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hp</cp:lastModifiedBy>
  <cp:revision>107</cp:revision>
  <dcterms:created xsi:type="dcterms:W3CDTF">2021-07-11T13:13:15Z</dcterms:created>
  <dcterms:modified xsi:type="dcterms:W3CDTF">2026-09-09T20:20:22Z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